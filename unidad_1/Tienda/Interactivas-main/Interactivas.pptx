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  <p:embeddedFont>
      <p:font typeface="Open Sauce Medium" charset="1" panose="00000600000000000000"/>
      <p:regular r:id="rId16"/>
    </p:embeddedFont>
    <p:embeddedFont>
      <p:font typeface="Open Sauce Light" charset="1" panose="00000400000000000000"/>
      <p:regular r:id="rId17"/>
    </p:embeddedFont>
    <p:embeddedFont>
      <p:font typeface="Open Sauce Semi-Bold" charset="1" panose="00000700000000000000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8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63533" y="663200"/>
            <a:ext cx="1662550" cy="33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1"/>
              </a:lnSpc>
              <a:spcBef>
                <a:spcPct val="0"/>
              </a:spcBef>
            </a:pPr>
            <a:r>
              <a:rPr lang="en-US" b="true" sz="195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Inicio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27655" y="665413"/>
            <a:ext cx="1907082" cy="33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1"/>
              </a:lnSpc>
              <a:spcBef>
                <a:spcPct val="0"/>
              </a:spcBef>
            </a:pPr>
            <a:r>
              <a:rPr lang="en-US" sz="1951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35278" y="665413"/>
            <a:ext cx="1589190" cy="33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1"/>
              </a:lnSpc>
              <a:spcBef>
                <a:spcPct val="0"/>
              </a:spcBef>
            </a:pPr>
            <a:r>
              <a:rPr lang="en-US" sz="1951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Contenido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Página 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0357" y="3884523"/>
            <a:ext cx="12747285" cy="470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56"/>
              </a:lnSpc>
            </a:pPr>
            <a:r>
              <a:rPr lang="en-US" b="true" sz="13540" spc="-63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BOOTSTRAP</a:t>
            </a:r>
          </a:p>
          <a:p>
            <a:pPr algn="ctr" marL="0" indent="0" lvl="0">
              <a:lnSpc>
                <a:spcPts val="1895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617766" y="3005476"/>
            <a:ext cx="9052468" cy="112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98"/>
              </a:lnSpc>
              <a:spcBef>
                <a:spcPct val="0"/>
              </a:spcBef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Introducción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84285" y="6586169"/>
            <a:ext cx="1919429" cy="566532"/>
            <a:chOff x="0" y="0"/>
            <a:chExt cx="505529" cy="1492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03335" y="6680522"/>
            <a:ext cx="192541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Comenzar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9599" y="8353548"/>
            <a:ext cx="6848803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Ing. Jesús Alejandro Hernandez Alonso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148009">
            <a:off x="9997172" y="2500334"/>
            <a:ext cx="9145756" cy="9162415"/>
          </a:xfrm>
          <a:custGeom>
            <a:avLst/>
            <a:gdLst/>
            <a:ahLst/>
            <a:cxnLst/>
            <a:rect r="r" b="b" t="t" l="l"/>
            <a:pathLst>
              <a:path h="9162415" w="9145756">
                <a:moveTo>
                  <a:pt x="9145757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7" y="9162415"/>
                </a:lnTo>
                <a:lnTo>
                  <a:pt x="91457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40336" y="-2489866"/>
            <a:ext cx="8565384" cy="8565384"/>
          </a:xfrm>
          <a:custGeom>
            <a:avLst/>
            <a:gdLst/>
            <a:ahLst/>
            <a:cxnLst/>
            <a:rect r="r" b="b" t="t" l="l"/>
            <a:pathLst>
              <a:path h="8565384" w="8565384">
                <a:moveTo>
                  <a:pt x="0" y="0"/>
                </a:moveTo>
                <a:lnTo>
                  <a:pt x="8565384" y="0"/>
                </a:lnTo>
                <a:lnTo>
                  <a:pt x="8565384" y="8565384"/>
                </a:lnTo>
                <a:lnTo>
                  <a:pt x="0" y="8565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63533" y="652766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Inicio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27655" y="654979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35278" y="654979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Contenido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Página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233" y="1199195"/>
            <a:ext cx="7754569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¿Qué es bootstrap?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26802" y="1644691"/>
            <a:ext cx="4974388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 un framework de código abierto (gratuito) para desarrollo front-end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 una gigantesca biblioteca de estilos (CSS) y componentes interactivos (JavaScript).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 misión: Acelerar el diseño web sin tener que escribir CSS desde cero.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89919" y="6310676"/>
            <a:ext cx="6302119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CSS predefinido:</a:t>
            </a: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Estilos para tipografía, formularios, botones, tablas, etc.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Sistema de Grid:</a:t>
            </a: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Un sistema de 12 columnas para layouts responsivos.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Componentes:</a:t>
            </a: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Elementos UI reutilizables (modales, carruseles, navbars, etc.).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 spc="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Pl</a:t>
            </a:r>
            <a:r>
              <a:rPr lang="en-US" b="true" sz="1899" spc="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ugins JavaScript:</a:t>
            </a: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Funcionalidades interactivas sin escribir JS desde cero (basados en Popper.js).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124989">
            <a:off x="-3023920" y="387385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6991760"/>
                </a:moveTo>
                <a:lnTo>
                  <a:pt x="0" y="6991760"/>
                </a:lnTo>
                <a:lnTo>
                  <a:pt x="0" y="0"/>
                </a:lnTo>
                <a:lnTo>
                  <a:pt x="6979048" y="0"/>
                </a:lnTo>
                <a:lnTo>
                  <a:pt x="6979048" y="69917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4681196">
            <a:off x="14426783" y="4792447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0" y="0"/>
                </a:moveTo>
                <a:lnTo>
                  <a:pt x="1432847" y="0"/>
                </a:lnTo>
                <a:lnTo>
                  <a:pt x="1432847" y="1432848"/>
                </a:lnTo>
                <a:lnTo>
                  <a:pt x="0" y="143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317524" y="6718324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1"/>
                </a:moveTo>
                <a:lnTo>
                  <a:pt x="2750861" y="2750861"/>
                </a:lnTo>
                <a:lnTo>
                  <a:pt x="2750861" y="0"/>
                </a:lnTo>
                <a:lnTo>
                  <a:pt x="0" y="0"/>
                </a:lnTo>
                <a:lnTo>
                  <a:pt x="0" y="275086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Inicio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Indtroducción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Contenido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Página 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6548" y="3021208"/>
            <a:ext cx="6049097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Bootstrap funciona a través de un sistema de clases predefinidas que tú agregas directamente a tus etiquetas HTML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5056" y="2021910"/>
            <a:ext cx="5152572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¿CÓMO FUNCIONA REALMENTE?</a:t>
            </a:r>
          </a:p>
          <a:p>
            <a:pPr algn="just" marL="0" indent="0" lvl="0">
              <a:lnSpc>
                <a:spcPts val="55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856548" y="5105400"/>
            <a:ext cx="6049097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flujo de trabajo: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Escribes HTML normal.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Agregas las clases específicas de Bootstrap.</a:t>
            </a:r>
          </a:p>
          <a:p>
            <a:pPr algn="just" marL="410209" indent="-205105" lvl="1">
              <a:lnSpc>
                <a:spcPts val="2659"/>
              </a:lnSpc>
              <a:buAutoNum type="arabicPeriod" startAt="1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Bootstrap (el archivo CSS) aplica los estilos automáticamente.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97173">
            <a:off x="-530603" y="6710959"/>
            <a:ext cx="7139078" cy="7152082"/>
          </a:xfrm>
          <a:custGeom>
            <a:avLst/>
            <a:gdLst/>
            <a:ahLst/>
            <a:cxnLst/>
            <a:rect r="r" b="b" t="t" l="l"/>
            <a:pathLst>
              <a:path h="7152082" w="7139078">
                <a:moveTo>
                  <a:pt x="7139078" y="0"/>
                </a:moveTo>
                <a:lnTo>
                  <a:pt x="0" y="0"/>
                </a:lnTo>
                <a:lnTo>
                  <a:pt x="0" y="7152082"/>
                </a:lnTo>
                <a:lnTo>
                  <a:pt x="7139078" y="7152082"/>
                </a:lnTo>
                <a:lnTo>
                  <a:pt x="7139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-145615" y="329378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1" y="2750862"/>
                </a:moveTo>
                <a:lnTo>
                  <a:pt x="0" y="2750862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986206" y="2433784"/>
            <a:ext cx="6013560" cy="5901310"/>
            <a:chOff x="0" y="0"/>
            <a:chExt cx="1121308" cy="1100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308" cy="1100377"/>
            </a:xfrm>
            <a:custGeom>
              <a:avLst/>
              <a:gdLst/>
              <a:ahLst/>
              <a:cxnLst/>
              <a:rect r="r" b="b" t="t" l="l"/>
              <a:pathLst>
                <a:path h="1100377" w="1121308">
                  <a:moveTo>
                    <a:pt x="66945" y="0"/>
                  </a:moveTo>
                  <a:lnTo>
                    <a:pt x="1054362" y="0"/>
                  </a:lnTo>
                  <a:cubicBezTo>
                    <a:pt x="1091335" y="0"/>
                    <a:pt x="1121308" y="29972"/>
                    <a:pt x="1121308" y="66945"/>
                  </a:cubicBezTo>
                  <a:lnTo>
                    <a:pt x="1121308" y="1033432"/>
                  </a:lnTo>
                  <a:cubicBezTo>
                    <a:pt x="1121308" y="1070405"/>
                    <a:pt x="1091335" y="1100377"/>
                    <a:pt x="1054362" y="1100377"/>
                  </a:cubicBezTo>
                  <a:lnTo>
                    <a:pt x="66945" y="1100377"/>
                  </a:lnTo>
                  <a:cubicBezTo>
                    <a:pt x="29972" y="1100377"/>
                    <a:pt x="0" y="1070405"/>
                    <a:pt x="0" y="1033432"/>
                  </a:cubicBezTo>
                  <a:lnTo>
                    <a:pt x="0" y="66945"/>
                  </a:lnTo>
                  <a:cubicBezTo>
                    <a:pt x="0" y="29972"/>
                    <a:pt x="29972" y="0"/>
                    <a:pt x="6694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981" r="0" b="-298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73541" y="3417191"/>
            <a:ext cx="5976994" cy="3934496"/>
          </a:xfrm>
          <a:custGeom>
            <a:avLst/>
            <a:gdLst/>
            <a:ahLst/>
            <a:cxnLst/>
            <a:rect r="r" b="b" t="t" l="l"/>
            <a:pathLst>
              <a:path h="3934496" w="5976994">
                <a:moveTo>
                  <a:pt x="0" y="0"/>
                </a:moveTo>
                <a:lnTo>
                  <a:pt x="5976994" y="0"/>
                </a:lnTo>
                <a:lnTo>
                  <a:pt x="5976994" y="3934496"/>
                </a:lnTo>
                <a:lnTo>
                  <a:pt x="0" y="39344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76846" y="3488872"/>
            <a:ext cx="4534309" cy="3791134"/>
          </a:xfrm>
          <a:custGeom>
            <a:avLst/>
            <a:gdLst/>
            <a:ahLst/>
            <a:cxnLst/>
            <a:rect r="r" b="b" t="t" l="l"/>
            <a:pathLst>
              <a:path h="3791134" w="4534309">
                <a:moveTo>
                  <a:pt x="0" y="0"/>
                </a:moveTo>
                <a:lnTo>
                  <a:pt x="4534308" y="0"/>
                </a:lnTo>
                <a:lnTo>
                  <a:pt x="4534308" y="3791134"/>
                </a:lnTo>
                <a:lnTo>
                  <a:pt x="0" y="37911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Inicio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Contenido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Página 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511" y="1250157"/>
            <a:ext cx="6640037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 CON CSS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755771" y="-136158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6" y="8573655"/>
                </a:lnTo>
                <a:lnTo>
                  <a:pt x="8558066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9793293" y="5707415"/>
            <a:ext cx="7358247" cy="7358247"/>
          </a:xfrm>
          <a:custGeom>
            <a:avLst/>
            <a:gdLst/>
            <a:ahLst/>
            <a:cxnLst/>
            <a:rect r="r" b="b" t="t" l="l"/>
            <a:pathLst>
              <a:path h="7358247" w="7358247">
                <a:moveTo>
                  <a:pt x="0" y="7358246"/>
                </a:moveTo>
                <a:lnTo>
                  <a:pt x="7358246" y="7358246"/>
                </a:lnTo>
                <a:lnTo>
                  <a:pt x="7358246" y="0"/>
                </a:lnTo>
                <a:lnTo>
                  <a:pt x="0" y="0"/>
                </a:lnTo>
                <a:lnTo>
                  <a:pt x="0" y="73582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92410" y="3862591"/>
            <a:ext cx="5680256" cy="5852059"/>
          </a:xfrm>
          <a:custGeom>
            <a:avLst/>
            <a:gdLst/>
            <a:ahLst/>
            <a:cxnLst/>
            <a:rect r="r" b="b" t="t" l="l"/>
            <a:pathLst>
              <a:path h="5852059" w="5680256">
                <a:moveTo>
                  <a:pt x="0" y="0"/>
                </a:moveTo>
                <a:lnTo>
                  <a:pt x="5680256" y="0"/>
                </a:lnTo>
                <a:lnTo>
                  <a:pt x="5680256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304" y="3633189"/>
            <a:ext cx="6946272" cy="5945281"/>
          </a:xfrm>
          <a:custGeom>
            <a:avLst/>
            <a:gdLst/>
            <a:ahLst/>
            <a:cxnLst/>
            <a:rect r="r" b="b" t="t" l="l"/>
            <a:pathLst>
              <a:path h="5945281" w="6946272">
                <a:moveTo>
                  <a:pt x="0" y="0"/>
                </a:moveTo>
                <a:lnTo>
                  <a:pt x="6946272" y="0"/>
                </a:lnTo>
                <a:lnTo>
                  <a:pt x="6946272" y="5945281"/>
                </a:lnTo>
                <a:lnTo>
                  <a:pt x="0" y="5945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9631" y="1668338"/>
            <a:ext cx="5152572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 CON BOOTSTRAP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Inicio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Contenido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Página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1449175" y="-220557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153361" y="2199747"/>
            <a:ext cx="8547727" cy="3733047"/>
            <a:chOff x="0" y="0"/>
            <a:chExt cx="1324267" cy="578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4267" cy="578347"/>
            </a:xfrm>
            <a:custGeom>
              <a:avLst/>
              <a:gdLst/>
              <a:ahLst/>
              <a:cxnLst/>
              <a:rect r="r" b="b" t="t" l="l"/>
              <a:pathLst>
                <a:path h="578347" w="1324267">
                  <a:moveTo>
                    <a:pt x="71553" y="0"/>
                  </a:moveTo>
                  <a:lnTo>
                    <a:pt x="1252714" y="0"/>
                  </a:lnTo>
                  <a:cubicBezTo>
                    <a:pt x="1271691" y="0"/>
                    <a:pt x="1289891" y="7539"/>
                    <a:pt x="1303309" y="20957"/>
                  </a:cubicBezTo>
                  <a:cubicBezTo>
                    <a:pt x="1316728" y="34376"/>
                    <a:pt x="1324267" y="52576"/>
                    <a:pt x="1324267" y="71553"/>
                  </a:cubicBezTo>
                  <a:lnTo>
                    <a:pt x="1324267" y="506794"/>
                  </a:lnTo>
                  <a:cubicBezTo>
                    <a:pt x="1324267" y="525771"/>
                    <a:pt x="1316728" y="543971"/>
                    <a:pt x="1303309" y="557389"/>
                  </a:cubicBezTo>
                  <a:cubicBezTo>
                    <a:pt x="1289891" y="570808"/>
                    <a:pt x="1271691" y="578347"/>
                    <a:pt x="1252714" y="578347"/>
                  </a:cubicBezTo>
                  <a:lnTo>
                    <a:pt x="71553" y="578347"/>
                  </a:lnTo>
                  <a:cubicBezTo>
                    <a:pt x="52576" y="578347"/>
                    <a:pt x="34376" y="570808"/>
                    <a:pt x="20957" y="557389"/>
                  </a:cubicBezTo>
                  <a:cubicBezTo>
                    <a:pt x="7539" y="543971"/>
                    <a:pt x="0" y="525771"/>
                    <a:pt x="0" y="506794"/>
                  </a:cubicBezTo>
                  <a:lnTo>
                    <a:pt x="0" y="71553"/>
                  </a:lnTo>
                  <a:cubicBezTo>
                    <a:pt x="0" y="52576"/>
                    <a:pt x="7539" y="34376"/>
                    <a:pt x="20957" y="20957"/>
                  </a:cubicBezTo>
                  <a:cubicBezTo>
                    <a:pt x="34376" y="7539"/>
                    <a:pt x="52576" y="0"/>
                    <a:pt x="7155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9340" r="0" b="-13499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true" flipV="false" rot="0">
            <a:off x="548416" y="854326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1432847" y="0"/>
                </a:moveTo>
                <a:lnTo>
                  <a:pt x="0" y="0"/>
                </a:lnTo>
                <a:lnTo>
                  <a:pt x="0" y="1432847"/>
                </a:lnTo>
                <a:lnTo>
                  <a:pt x="1432847" y="1432847"/>
                </a:lnTo>
                <a:lnTo>
                  <a:pt x="143284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Página 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6376" y="2650221"/>
            <a:ext cx="595371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MOBILE FIRST</a:t>
            </a:r>
          </a:p>
          <a:p>
            <a:pPr algn="just" marL="0" indent="0" lvl="0">
              <a:lnSpc>
                <a:spcPts val="55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69015" y="3874852"/>
            <a:ext cx="5287533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Diseñar primero para dispositivos móviles (pantallas pequeñas) y luego ir agregando mejoras para pantallas más grandes, en lugar de diseñar para escritorio y "adaptar" hacia abajo.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Inicio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0040" y="6000192"/>
            <a:ext cx="5287533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¿Cómo aplica Bootstrap?</a:t>
            </a:r>
          </a:p>
          <a:p>
            <a:pPr algn="just">
              <a:lnSpc>
                <a:spcPts val="2659"/>
              </a:lnSpc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Los breakpoints están definidos para móvil primero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8029055" y="2729742"/>
          <a:ext cx="7643812" cy="4400550"/>
        </p:xfrm>
        <a:graphic>
          <a:graphicData uri="http://schemas.openxmlformats.org/drawingml/2006/table">
            <a:tbl>
              <a:tblPr/>
              <a:tblGrid>
                <a:gridCol w="2257425"/>
                <a:gridCol w="3057525"/>
                <a:gridCol w="2328862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Breakpoint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Tamaño mínimo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xs (sin sufijo)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Teléfonos verticales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≥576px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Teléfonos horizontales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≥768px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Tablets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≥992px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Laptops/escritorio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≥1200px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Escritorio grande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xxl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≥1400px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9FAF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Pantallas extra grandes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257035" y="1158179"/>
            <a:ext cx="7962927" cy="7962927"/>
          </a:xfrm>
          <a:custGeom>
            <a:avLst/>
            <a:gdLst/>
            <a:ahLst/>
            <a:cxnLst/>
            <a:rect r="r" b="b" t="t" l="l"/>
            <a:pathLst>
              <a:path h="7962927" w="7962927">
                <a:moveTo>
                  <a:pt x="7962927" y="7962927"/>
                </a:moveTo>
                <a:lnTo>
                  <a:pt x="0" y="7962927"/>
                </a:lnTo>
                <a:lnTo>
                  <a:pt x="0" y="0"/>
                </a:lnTo>
                <a:lnTo>
                  <a:pt x="7962927" y="0"/>
                </a:lnTo>
                <a:lnTo>
                  <a:pt x="7962927" y="79629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708853" y="3151942"/>
            <a:ext cx="7629348" cy="7643245"/>
          </a:xfrm>
          <a:custGeom>
            <a:avLst/>
            <a:gdLst/>
            <a:ahLst/>
            <a:cxnLst/>
            <a:rect r="r" b="b" t="t" l="l"/>
            <a:pathLst>
              <a:path h="7643245" w="7629348">
                <a:moveTo>
                  <a:pt x="7629349" y="0"/>
                </a:moveTo>
                <a:lnTo>
                  <a:pt x="0" y="0"/>
                </a:lnTo>
                <a:lnTo>
                  <a:pt x="0" y="7643245"/>
                </a:lnTo>
                <a:lnTo>
                  <a:pt x="7629349" y="7643245"/>
                </a:lnTo>
                <a:lnTo>
                  <a:pt x="76293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703976" y="2714463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0" y="1432847"/>
                </a:moveTo>
                <a:lnTo>
                  <a:pt x="1432848" y="1432847"/>
                </a:lnTo>
                <a:lnTo>
                  <a:pt x="1432848" y="0"/>
                </a:lnTo>
                <a:lnTo>
                  <a:pt x="0" y="0"/>
                </a:lnTo>
                <a:lnTo>
                  <a:pt x="0" y="143284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25649" y="4633203"/>
            <a:ext cx="5825699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Tipografía y Texto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66009" y="2502778"/>
            <a:ext cx="6581078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ELEMENTOS BÁSICOS</a:t>
            </a:r>
          </a:p>
          <a:p>
            <a:pPr algn="just" marL="0" indent="0" lvl="0">
              <a:lnSpc>
                <a:spcPts val="55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Página 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Inicio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Contenido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58551" y="3450292"/>
            <a:ext cx="8370898" cy="26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sz="15901" spc="-74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Gracias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96029" y="8835324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DAHQ7dLwuIg</dc:identifier>
  <dcterms:modified xsi:type="dcterms:W3CDTF">2011-08-01T06:04:30Z</dcterms:modified>
  <cp:revision>1</cp:revision>
  <dc:title>Black and Purple Modern Programming Presentation</dc:title>
</cp:coreProperties>
</file>